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68" r:id="rId4"/>
    <p:sldId id="269" r:id="rId5"/>
    <p:sldId id="270" r:id="rId6"/>
    <p:sldId id="271" r:id="rId7"/>
    <p:sldId id="261" r:id="rId8"/>
    <p:sldId id="262" r:id="rId9"/>
    <p:sldId id="263" r:id="rId10"/>
    <p:sldId id="264" r:id="rId11"/>
    <p:sldId id="265" r:id="rId12"/>
    <p:sldId id="266" r:id="rId13"/>
    <p:sldId id="273" r:id="rId14"/>
    <p:sldId id="272" r:id="rId15"/>
    <p:sldId id="274" r:id="rId16"/>
    <p:sldId id="275" r:id="rId17"/>
    <p:sldId id="276" r:id="rId18"/>
    <p:sldId id="277" r:id="rId19"/>
    <p:sldId id="278" r:id="rId20"/>
    <p:sldId id="267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silev Egor" initials="VE" lastIdx="1" clrIdx="0">
    <p:extLst>
      <p:ext uri="{19B8F6BF-5375-455C-9EA6-DF929625EA0E}">
        <p15:presenceInfo xmlns:p15="http://schemas.microsoft.com/office/powerpoint/2012/main" userId="d625a14222599ff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8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Егор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19b4d6b3b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19b4d6b3b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Егор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Мы решаем базовую задачу поиска пути на сетке — она возникает во многих прикладных областях. В робототехнике и на складах это навигация роботов в реальном времени. В беспилотных системах — планирование траекторий с ограничениями. В играх — поиск пути для NPC на больших картах.</a:t>
            </a:r>
            <a:br>
              <a:rPr lang="ru-RU" dirty="0"/>
            </a:br>
            <a:r>
              <a:rPr lang="ru-RU" dirty="0"/>
              <a:t>Общая проблема везде одна: карт много, запросов много, и нужен </a:t>
            </a:r>
            <a:r>
              <a:rPr lang="ru-RU" b="1" dirty="0"/>
              <a:t>быстрый</a:t>
            </a:r>
            <a:r>
              <a:rPr lang="ru-RU" dirty="0"/>
              <a:t> алгоритм, который даёт оптимальный или близкий к оптимальному путь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dirty="0">
                <a:solidFill>
                  <a:schemeClr val="dk2"/>
                </a:solidFill>
              </a:rPr>
              <a:t>Построение путей для неигровых персонажей (NPC), оптимизация перемещений в игровом мире, создание реалистичного поведения.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2"/>
                </a:solidFill>
              </a:rPr>
              <a:t>Оптимизация перемещения товаров на складах, эффективное планирование маршрутов доставки, сокращение времени </a:t>
            </a:r>
            <a:endParaRPr lang="en-US" dirty="0">
              <a:solidFill>
                <a:schemeClr val="dk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dirty="0">
                <a:solidFill>
                  <a:schemeClr val="dk2"/>
                </a:solidFill>
              </a:rPr>
              <a:t>Разработка маршрутов для беспилотных автомобилей и дронов с учетом дорожной обстановки, пробок и безопасности.</a:t>
            </a:r>
            <a:endParaRPr lang="en-US" dirty="0">
              <a:solidFill>
                <a:schemeClr val="dk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dirty="0">
                <a:solidFill>
                  <a:schemeClr val="dk2"/>
                </a:solidFill>
              </a:rPr>
              <a:t>Навигация и планирование движений автономных роботов в реальном времени, обход препятствий на производстве и в быту.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dirty="0">
                <a:solidFill>
                  <a:schemeClr val="dk2"/>
                </a:solidFill>
              </a:rPr>
              <a:t>выполнения заказов.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ru-RU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ru-RU" dirty="0"/>
              <a:t>Никита</a:t>
            </a:r>
          </a:p>
          <a:p>
            <a:pPr marL="158750" indent="0">
              <a:buNone/>
            </a:pPr>
            <a:r>
              <a:rPr lang="ru-RU" dirty="0"/>
              <a:t>Сначала — интуитивная постановка. У нас есть карта-решётка: часть клеток непроходимые — это серые блоки, а часть проходимые. Среди проходимых клетки могут иметь разную “цену”.</a:t>
            </a:r>
          </a:p>
          <a:p>
            <a:pPr marL="158750" indent="0">
              <a:buNone/>
            </a:pPr>
            <a:r>
              <a:rPr lang="ru-RU" dirty="0"/>
              <a:t>Даны старт S и цель T. Мы можем ходить по соседним клеткам: либо по четырём направлениям, либо с диагоналями — это 8-связность.</a:t>
            </a:r>
          </a:p>
          <a:p>
            <a:pPr marL="158750" indent="0">
              <a:buNone/>
            </a:pPr>
            <a:r>
              <a:rPr lang="ru-RU" dirty="0"/>
              <a:t>Мы ищем путь с минимальной суммарной стоимостью.</a:t>
            </a:r>
          </a:p>
        </p:txBody>
      </p:sp>
    </p:spTree>
    <p:extLst>
      <p:ext uri="{BB962C8B-B14F-4D97-AF65-F5344CB8AC3E}">
        <p14:creationId xmlns:p14="http://schemas.microsoft.com/office/powerpoint/2010/main" val="3432428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Никита</a:t>
            </a:r>
          </a:p>
        </p:txBody>
      </p:sp>
    </p:spTree>
    <p:extLst>
      <p:ext uri="{BB962C8B-B14F-4D97-AF65-F5344CB8AC3E}">
        <p14:creationId xmlns:p14="http://schemas.microsoft.com/office/powerpoint/2010/main" val="1482473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Никита</a:t>
            </a:r>
          </a:p>
        </p:txBody>
      </p:sp>
    </p:spTree>
    <p:extLst>
      <p:ext uri="{BB962C8B-B14F-4D97-AF65-F5344CB8AC3E}">
        <p14:creationId xmlns:p14="http://schemas.microsoft.com/office/powerpoint/2010/main" val="3460955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Никита</a:t>
            </a:r>
          </a:p>
          <a:p>
            <a:r>
              <a:rPr lang="ru-RU" dirty="0"/>
              <a:t>На решётке часто есть не один оптимальный маршрут, а целый класс: можно переставлять шаги местами, а стоимость не меняется. A* не умеет </a:t>
            </a:r>
            <a:r>
              <a:rPr lang="ru-RU" dirty="0" err="1"/>
              <a:t>схлопывать</a:t>
            </a:r>
            <a:r>
              <a:rPr lang="ru-RU" dirty="0"/>
              <a:t> такие симметрии, поэтому в области симметрий вынужден рассматривать много эквивалентных вариантов — это и даёт лишние расширения.»</a:t>
            </a: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-RU" sz="1100" dirty="0">
                <a:solidFill>
                  <a:schemeClr val="dk1"/>
                </a:solidFill>
              </a:rPr>
              <a:t>Алгоритм A* широко используется для поиска кратчайших путей благодаря своей оптимальности и простоте. Однако на больших сетках он сталкивается с рядом проблем, снижающих его эффективность.</a:t>
            </a: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endParaRPr lang="ru-RU" sz="11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lang="ru-RU"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lang="ru-RU" sz="1100"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endParaRPr lang="ru-RU" sz="12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8462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19b4d6b3b_1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19b4d6b3b_1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Егор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JPS решает ровно эту проблему: он </a:t>
            </a:r>
            <a:r>
              <a:rPr lang="ru-RU" dirty="0" err="1"/>
              <a:t>схлопывает</a:t>
            </a:r>
            <a:r>
              <a:rPr lang="ru-RU" dirty="0"/>
              <a:t> симметрии. Делается это двумя механизмами: </a:t>
            </a:r>
            <a:r>
              <a:rPr lang="ru-RU" dirty="0" err="1"/>
              <a:t>pruning</a:t>
            </a:r>
            <a:r>
              <a:rPr lang="ru-RU" dirty="0"/>
              <a:t> оставляет только каноничные продолжения, а </a:t>
            </a:r>
            <a:r>
              <a:rPr lang="ru-RU" dirty="0" err="1"/>
              <a:t>jumping</a:t>
            </a:r>
            <a:r>
              <a:rPr lang="ru-RU" dirty="0"/>
              <a:t> не добавляет в поиск каждую клетку по прямой — мы двигаемся сразу до места, где действительно появляется выбор. В итоге оптимальность сохраняется, а лишних расширений становится меньше.»</a:t>
            </a:r>
            <a:endParaRPr lang="en-US"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ru-RU" sz="1100" dirty="0" err="1">
                <a:solidFill>
                  <a:schemeClr val="dk1"/>
                </a:solidFill>
              </a:rPr>
              <a:t>Jump</a:t>
            </a:r>
            <a:r>
              <a:rPr lang="ru-RU" sz="1100" dirty="0">
                <a:solidFill>
                  <a:schemeClr val="dk1"/>
                </a:solidFill>
              </a:rPr>
              <a:t> Point Search (JPS) был разработан для ускорения A* путем устранения избыточных симметрий в сетке, сохраняя при этом оптимальность найденного пути.</a:t>
            </a: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endParaRPr lang="ru-RU" sz="11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1d90caf17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1d90caf17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Егор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/>
              <a:t>Pruning</a:t>
            </a:r>
            <a:r>
              <a:rPr lang="ru-RU" dirty="0"/>
              <a:t> делает канонизацию: из клетки мы рассматриваем не все 8 направлений, а только “естественные” продолжения относительно направления прихода — обычно это 1–3 направления. Исключение — </a:t>
            </a:r>
            <a:r>
              <a:rPr lang="ru-RU" dirty="0" err="1"/>
              <a:t>forced</a:t>
            </a:r>
            <a:r>
              <a:rPr lang="ru-RU" dirty="0"/>
              <a:t> </a:t>
            </a:r>
            <a:r>
              <a:rPr lang="ru-RU" dirty="0" err="1"/>
              <a:t>neighbors</a:t>
            </a:r>
            <a:r>
              <a:rPr lang="ru-RU" dirty="0"/>
              <a:t>: препятствие создаёт ситуацию, где нужно добавить направление, иначе можно потерять оптимальный путь. Это и есть ключ: мы убираем симметричные продолжения, но сохраняем необходимые ветвления.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1d90caf17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1d90caf17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Егор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ff5053f83_8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ff5053f83_8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Егор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194ad846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194ad846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Никита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ff5053f83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ff5053f83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Никита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ff5053f83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ff5053f83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Никита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327059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ff5053f83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ff5053f83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Никита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08526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ff5053f83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ff5053f83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Никита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540906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ff5053f83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ff5053f83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Никита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123667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ff5053f83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ff5053f83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Никита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32470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ff5053f83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ff5053f83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Никита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485481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ff5053f83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ff5053f83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Никита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69194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194ad846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194ad846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Егор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 работе мы рассмотрели задачу поиска оптимального пути на сетке: сначала в </a:t>
            </a:r>
            <a:r>
              <a:rPr lang="ru-RU" dirty="0" err="1"/>
              <a:t>uniform</a:t>
            </a:r>
            <a:r>
              <a:rPr lang="ru-RU" dirty="0"/>
              <a:t>-случае, затем в </a:t>
            </a:r>
            <a:r>
              <a:rPr lang="ru-RU" dirty="0" err="1"/>
              <a:t>weighted</a:t>
            </a:r>
            <a:r>
              <a:rPr lang="ru-RU" dirty="0"/>
              <a:t>-случае, где оптимальность определяется стоимостью переходов.</a:t>
            </a:r>
            <a:br>
              <a:rPr lang="ru-RU" dirty="0"/>
            </a:br>
            <a:r>
              <a:rPr lang="ru-RU" dirty="0"/>
              <a:t>Мы реализовали A*, JPS и базовый JPSW и сравнили их по времени и числу расширений. На </a:t>
            </a:r>
            <a:r>
              <a:rPr lang="ru-RU" dirty="0" err="1"/>
              <a:t>uniform</a:t>
            </a:r>
            <a:r>
              <a:rPr lang="ru-RU" dirty="0"/>
              <a:t> картах JPS стабильно уменьшает количество </a:t>
            </a:r>
            <a:r>
              <a:rPr lang="ru-RU" dirty="0" err="1"/>
              <a:t>expanded</a:t>
            </a:r>
            <a:r>
              <a:rPr lang="ru-RU" dirty="0"/>
              <a:t> — это ожидаемо, потому что он устраняет симметричные варианты пути за счёт </a:t>
            </a:r>
            <a:r>
              <a:rPr lang="ru-RU" dirty="0" err="1"/>
              <a:t>pruning</a:t>
            </a:r>
            <a:r>
              <a:rPr lang="ru-RU" dirty="0"/>
              <a:t> и </a:t>
            </a:r>
            <a:r>
              <a:rPr lang="ru-RU" dirty="0" err="1"/>
              <a:t>jumping</a:t>
            </a:r>
            <a:r>
              <a:rPr lang="ru-RU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 работе мы рассмотрели задачу поиска оптимального пути на сетке: сначала в </a:t>
            </a:r>
            <a:r>
              <a:rPr lang="ru-RU" dirty="0" err="1"/>
              <a:t>uniform</a:t>
            </a:r>
            <a:r>
              <a:rPr lang="ru-RU" dirty="0"/>
              <a:t>-случае, затем в </a:t>
            </a:r>
            <a:r>
              <a:rPr lang="ru-RU" dirty="0" err="1"/>
              <a:t>weighted</a:t>
            </a:r>
            <a:r>
              <a:rPr lang="ru-RU" dirty="0"/>
              <a:t>-случае, где оптимальность определяется стоимостью переходов.</a:t>
            </a:r>
            <a:br>
              <a:rPr lang="ru-RU" dirty="0"/>
            </a:br>
            <a:r>
              <a:rPr lang="ru-RU" dirty="0"/>
              <a:t>Мы реализовали A*, JPS и базовый JPSW и сравнили их по времени и числу расширений. На </a:t>
            </a:r>
            <a:r>
              <a:rPr lang="ru-RU" dirty="0" err="1"/>
              <a:t>uniform</a:t>
            </a:r>
            <a:r>
              <a:rPr lang="ru-RU" dirty="0"/>
              <a:t> картах JPS стабильно уменьшает количество </a:t>
            </a:r>
            <a:r>
              <a:rPr lang="ru-RU" dirty="0" err="1"/>
              <a:t>expanded</a:t>
            </a:r>
            <a:r>
              <a:rPr lang="ru-RU" dirty="0"/>
              <a:t> — это ожидаемо, потому что он устраняет симметричные варианты пути за счёт </a:t>
            </a:r>
            <a:r>
              <a:rPr lang="ru-RU" dirty="0" err="1"/>
              <a:t>pruning</a:t>
            </a:r>
            <a:r>
              <a:rPr lang="ru-RU" dirty="0"/>
              <a:t> и </a:t>
            </a:r>
            <a:r>
              <a:rPr lang="ru-RU" dirty="0" err="1"/>
              <a:t>jumping</a:t>
            </a:r>
            <a:r>
              <a:rPr lang="ru-RU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vingai.com/benchmarks/grids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8264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986150" y="1159475"/>
            <a:ext cx="5171700" cy="10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 dirty="0"/>
              <a:t>Методы и алгоритмы </a:t>
            </a:r>
            <a:endParaRPr sz="3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 dirty="0"/>
              <a:t>эвристического поиска</a:t>
            </a:r>
            <a:endParaRPr sz="3000" b="1" dirty="0"/>
          </a:p>
        </p:txBody>
      </p:sp>
      <p:sp>
        <p:nvSpPr>
          <p:cNvPr id="56" name="Google Shape;56;p13"/>
          <p:cNvSpPr txBox="1"/>
          <p:nvPr/>
        </p:nvSpPr>
        <p:spPr>
          <a:xfrm>
            <a:off x="1986150" y="2295975"/>
            <a:ext cx="602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dk2"/>
                </a:solidFill>
              </a:rPr>
              <a:t>Jump Point Search и его модификации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986150" y="2634050"/>
            <a:ext cx="6468600" cy="1586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chemeClr val="dk2"/>
                </a:solidFill>
              </a:rPr>
              <a:t>Исполнители: Васильев Е.С., Денисов Н.В.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000" dirty="0">
                <a:solidFill>
                  <a:schemeClr val="dk2"/>
                </a:solidFill>
              </a:rPr>
              <a:t>СПбГУ 2025/2026 </a:t>
            </a:r>
            <a:endParaRPr sz="1000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273719"/>
            <a:ext cx="8520600" cy="6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ru-RU" sz="2000" b="1" dirty="0"/>
              <a:t>Где нужен быстрый поиск пути?</a:t>
            </a:r>
            <a:br>
              <a:rPr lang="ru-RU" sz="2000" b="1" dirty="0"/>
            </a:br>
            <a:endParaRPr sz="2000" dirty="0"/>
          </a:p>
        </p:txBody>
      </p:sp>
      <p:sp>
        <p:nvSpPr>
          <p:cNvPr id="63" name="Google Shape;63;p14"/>
          <p:cNvSpPr txBox="1"/>
          <p:nvPr/>
        </p:nvSpPr>
        <p:spPr>
          <a:xfrm>
            <a:off x="202409" y="1370593"/>
            <a:ext cx="4369591" cy="3090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" dirty="0">
                <a:solidFill>
                  <a:schemeClr val="dk1"/>
                </a:solidFill>
              </a:rPr>
              <a:t>Робототехника</a:t>
            </a:r>
            <a:r>
              <a:rPr lang="en-US" dirty="0">
                <a:solidFill>
                  <a:schemeClr val="dk1"/>
                </a:solidFill>
              </a:rPr>
              <a:t> – </a:t>
            </a:r>
            <a:r>
              <a:rPr lang="ru-RU" dirty="0">
                <a:solidFill>
                  <a:schemeClr val="dk1"/>
                </a:solidFill>
              </a:rPr>
              <a:t>навигация в реальном времени</a:t>
            </a:r>
            <a:endParaRPr lang="en-US" dirty="0">
              <a:solidFill>
                <a:schemeClr val="dk1"/>
              </a:solidFill>
            </a:endParaRPr>
          </a:p>
          <a:p>
            <a:pPr marL="285750" indent="-2857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Склады и логистика – маршрутизация роботов</a:t>
            </a:r>
            <a:endParaRPr lang="en-US" dirty="0">
              <a:solidFill>
                <a:schemeClr val="dk1"/>
              </a:solidFill>
            </a:endParaRPr>
          </a:p>
          <a:p>
            <a:pPr marL="285750" indent="-2857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Беспилотный транспорт – планирование траекторий</a:t>
            </a:r>
            <a:endParaRPr lang="en-US" dirty="0">
              <a:solidFill>
                <a:schemeClr val="dk1"/>
              </a:solidFill>
            </a:endParaRPr>
          </a:p>
          <a:p>
            <a:pPr marL="285750" indent="-2857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Игровая индустрия – поиск пути для </a:t>
            </a:r>
            <a:r>
              <a:rPr lang="en-US" dirty="0">
                <a:solidFill>
                  <a:schemeClr val="dk1"/>
                </a:solidFill>
              </a:rPr>
              <a:t>NPC</a:t>
            </a:r>
            <a:endParaRPr lang="ru-RU" dirty="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ru-RU" dirty="0">
                <a:solidFill>
                  <a:schemeClr val="dk1"/>
                </a:solidFill>
              </a:rPr>
              <a:t> 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</a:t>
            </a:fld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43C6244-1A70-4425-AEFA-FE81ABDE2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7716" y="1116897"/>
            <a:ext cx="3524742" cy="33437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BA69BF-7099-4CD3-AB45-0A9B75AD9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1800" b="1" dirty="0"/>
              <a:t>Постановка задачи: поиск оптимального пути (неформально)</a:t>
            </a:r>
            <a:br>
              <a:rPr lang="ru-RU" sz="1800" b="1" dirty="0"/>
            </a:br>
            <a:endParaRPr lang="ru-RU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9386544-3CCA-4F7A-842B-AFC9B986A1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3</a:t>
            </a:fld>
            <a:endParaRPr lang="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8F4D3F4-823A-4732-9CF2-CC0C08833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288844"/>
            <a:ext cx="4058545" cy="28215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B01106C-36ED-4EA6-B386-0F1398D5BE6B}"/>
              </a:ext>
            </a:extLst>
          </p:cNvPr>
          <p:cNvSpPr txBox="1"/>
          <p:nvPr/>
        </p:nvSpPr>
        <p:spPr>
          <a:xfrm>
            <a:off x="4641433" y="1288844"/>
            <a:ext cx="43797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Вход</a:t>
            </a:r>
            <a:r>
              <a:rPr lang="en-US" dirty="0"/>
              <a:t>: grid-</a:t>
            </a:r>
            <a:r>
              <a:rPr lang="ru-RU" dirty="0"/>
              <a:t>карта с препятствиями и </a:t>
            </a:r>
            <a:r>
              <a:rPr lang="en-US" dirty="0"/>
              <a:t>“</a:t>
            </a:r>
            <a:r>
              <a:rPr lang="ru-RU" dirty="0"/>
              <a:t>ценой</a:t>
            </a:r>
            <a:r>
              <a:rPr lang="en-US" dirty="0"/>
              <a:t>” </a:t>
            </a:r>
            <a:r>
              <a:rPr lang="ru-RU" dirty="0"/>
              <a:t>клеток</a:t>
            </a:r>
          </a:p>
          <a:p>
            <a:r>
              <a:rPr lang="ru-RU" b="1" dirty="0"/>
              <a:t>Дано</a:t>
            </a:r>
            <a:r>
              <a:rPr lang="en-US" dirty="0"/>
              <a:t>: </a:t>
            </a:r>
            <a:r>
              <a:rPr lang="ru-RU" dirty="0"/>
              <a:t>старт </a:t>
            </a:r>
            <a:r>
              <a:rPr lang="en-US" dirty="0"/>
              <a:t>S</a:t>
            </a:r>
            <a:r>
              <a:rPr lang="ru-RU" dirty="0"/>
              <a:t> и цель </a:t>
            </a:r>
            <a:r>
              <a:rPr lang="en-US" dirty="0"/>
              <a:t>T</a:t>
            </a:r>
          </a:p>
          <a:p>
            <a:r>
              <a:rPr lang="ru-RU" b="1" dirty="0"/>
              <a:t>Допустимые ходы</a:t>
            </a:r>
            <a:r>
              <a:rPr lang="en-US" dirty="0"/>
              <a:t>: </a:t>
            </a:r>
            <a:r>
              <a:rPr lang="ru-RU" dirty="0"/>
              <a:t>4- или 8- связность</a:t>
            </a:r>
          </a:p>
          <a:p>
            <a:r>
              <a:rPr lang="ru-RU" b="1" dirty="0"/>
              <a:t>Цель</a:t>
            </a:r>
            <a:r>
              <a:rPr lang="en-US" dirty="0"/>
              <a:t>: </a:t>
            </a:r>
            <a:r>
              <a:rPr lang="ru-RU" dirty="0"/>
              <a:t>найти путь минимальной стоимости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35A270A-07DF-4F81-90CD-6C51F6456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5858" y="2699640"/>
            <a:ext cx="1790950" cy="176237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4B76060-2567-4A26-84A5-9A792AD87D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757" y="2699640"/>
            <a:ext cx="1743318" cy="175284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B9DE3B8-AF61-495A-B146-68753B02064E}"/>
              </a:ext>
            </a:extLst>
          </p:cNvPr>
          <p:cNvSpPr txBox="1"/>
          <p:nvPr/>
        </p:nvSpPr>
        <p:spPr>
          <a:xfrm>
            <a:off x="311701" y="4208095"/>
            <a:ext cx="417717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/>
              <a:t>Зеленая клетка – начало, красная – конец</a:t>
            </a:r>
            <a:r>
              <a:rPr lang="en-US" sz="900" dirty="0"/>
              <a:t>;</a:t>
            </a:r>
            <a:endParaRPr lang="ru-RU" sz="900" dirty="0"/>
          </a:p>
          <a:p>
            <a:r>
              <a:rPr lang="ru-RU" sz="900" dirty="0"/>
              <a:t>Серые клетки – препятствия, желтая линия – найденный путь</a:t>
            </a:r>
          </a:p>
          <a:p>
            <a:endParaRPr lang="ru-RU" sz="9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EB77C6-BA94-4AD7-BD04-1CFCCED45D5F}"/>
              </a:ext>
            </a:extLst>
          </p:cNvPr>
          <p:cNvSpPr txBox="1"/>
          <p:nvPr/>
        </p:nvSpPr>
        <p:spPr>
          <a:xfrm>
            <a:off x="5059358" y="4601397"/>
            <a:ext cx="1172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4-связность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43F6EE-D930-44EE-AD29-19D8C57D4107}"/>
              </a:ext>
            </a:extLst>
          </p:cNvPr>
          <p:cNvSpPr txBox="1"/>
          <p:nvPr/>
        </p:nvSpPr>
        <p:spPr>
          <a:xfrm>
            <a:off x="7300342" y="4598469"/>
            <a:ext cx="1172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8-связность</a:t>
            </a:r>
          </a:p>
        </p:txBody>
      </p:sp>
    </p:spTree>
    <p:extLst>
      <p:ext uri="{BB962C8B-B14F-4D97-AF65-F5344CB8AC3E}">
        <p14:creationId xmlns:p14="http://schemas.microsoft.com/office/powerpoint/2010/main" val="3080899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F84EF1-44EB-4B4C-BB27-A143519FC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2400" b="1" dirty="0"/>
              <a:t>Постановка задачи: модель карты</a:t>
            </a:r>
            <a:br>
              <a:rPr lang="ru-RU" sz="2400" b="1" dirty="0"/>
            </a:br>
            <a:endParaRPr lang="ru-RU" sz="24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0DD8324-FD4A-45E6-913E-4D91A8A009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4</a:t>
            </a:fld>
            <a:endParaRPr lang="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CE0BFE-9C86-4A30-A1D7-D446083DB876}"/>
              </a:ext>
            </a:extLst>
          </p:cNvPr>
          <p:cNvSpPr txBox="1"/>
          <p:nvPr/>
        </p:nvSpPr>
        <p:spPr>
          <a:xfrm>
            <a:off x="311700" y="1177637"/>
            <a:ext cx="3209533" cy="17440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Размер </a:t>
            </a:r>
            <a:r>
              <a:rPr lang="el-GR" dirty="0"/>
              <a:t>Ω</a:t>
            </a:r>
            <a:r>
              <a:rPr lang="ru-RU" dirty="0"/>
              <a:t> = </a:t>
            </a:r>
            <a:r>
              <a:rPr lang="en-US" dirty="0"/>
              <a:t>{0, …, W-1} </a:t>
            </a:r>
            <a:r>
              <a:rPr lang="ru-RU" dirty="0"/>
              <a:t>×</a:t>
            </a:r>
            <a:r>
              <a:rPr lang="en-US" dirty="0"/>
              <a:t> {0, …, H-1}</a:t>
            </a:r>
          </a:p>
          <a:p>
            <a:r>
              <a:rPr lang="ru-RU" dirty="0"/>
              <a:t>Проходимые клетки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V </a:t>
            </a:r>
            <a:r>
              <a:rPr lang="ru-RU" dirty="0"/>
              <a:t>⊆</a:t>
            </a:r>
            <a:r>
              <a:rPr lang="en-US" dirty="0"/>
              <a:t> </a:t>
            </a:r>
            <a:r>
              <a:rPr lang="el-GR" dirty="0"/>
              <a:t>Ω</a:t>
            </a:r>
            <a:endParaRPr lang="en-US" dirty="0"/>
          </a:p>
          <a:p>
            <a:r>
              <a:rPr lang="ru-RU" dirty="0"/>
              <a:t>Соседство</a:t>
            </a:r>
            <a:r>
              <a:rPr lang="en-US" dirty="0"/>
              <a:t> </a:t>
            </a:r>
            <a:r>
              <a:rPr lang="ru-RU" dirty="0"/>
              <a:t>(</a:t>
            </a:r>
            <a:r>
              <a:rPr lang="en-US" dirty="0"/>
              <a:t>4/8):</a:t>
            </a:r>
          </a:p>
          <a:p>
            <a:r>
              <a:rPr lang="en-US" dirty="0"/>
              <a:t>N</a:t>
            </a:r>
            <a:r>
              <a:rPr lang="en-US" baseline="-25000" dirty="0"/>
              <a:t>4</a:t>
            </a:r>
            <a:r>
              <a:rPr lang="en-US" dirty="0"/>
              <a:t>(</a:t>
            </a:r>
            <a:r>
              <a:rPr lang="en-US" dirty="0" err="1"/>
              <a:t>x,y</a:t>
            </a:r>
            <a:r>
              <a:rPr lang="en-US" dirty="0"/>
              <a:t>) = {(x</a:t>
            </a:r>
            <a:r>
              <a:rPr lang="ru-RU" dirty="0"/>
              <a:t>±</a:t>
            </a:r>
            <a:r>
              <a:rPr lang="en-US" dirty="0"/>
              <a:t>1,y)}</a:t>
            </a:r>
            <a:r>
              <a:rPr lang="ru-RU" dirty="0"/>
              <a:t>∪</a:t>
            </a:r>
            <a:r>
              <a:rPr lang="en-US" dirty="0"/>
              <a:t>{(</a:t>
            </a:r>
            <a:r>
              <a:rPr lang="en-US" dirty="0" err="1"/>
              <a:t>x,y</a:t>
            </a:r>
            <a:r>
              <a:rPr lang="ru-RU" dirty="0"/>
              <a:t>±</a:t>
            </a:r>
            <a:r>
              <a:rPr lang="en-US" dirty="0"/>
              <a:t>1)}</a:t>
            </a:r>
            <a:r>
              <a:rPr lang="ru-RU" dirty="0"/>
              <a:t> ∩</a:t>
            </a:r>
            <a:r>
              <a:rPr lang="en-US" dirty="0"/>
              <a:t> V </a:t>
            </a:r>
            <a:r>
              <a:rPr lang="ru-RU" dirty="0"/>
              <a:t>или </a:t>
            </a:r>
            <a:endParaRPr lang="en-US" dirty="0"/>
          </a:p>
          <a:p>
            <a:r>
              <a:rPr lang="en-US" dirty="0"/>
              <a:t>N</a:t>
            </a:r>
            <a:r>
              <a:rPr lang="en-US" baseline="-25000" dirty="0"/>
              <a:t>8</a:t>
            </a:r>
            <a:r>
              <a:rPr lang="en-US" dirty="0"/>
              <a:t>(</a:t>
            </a:r>
            <a:r>
              <a:rPr lang="en-US" dirty="0" err="1"/>
              <a:t>x,y</a:t>
            </a:r>
            <a:r>
              <a:rPr lang="en-US" dirty="0"/>
              <a:t>) = N</a:t>
            </a:r>
            <a:r>
              <a:rPr lang="en-US" baseline="-25000" dirty="0"/>
              <a:t>4</a:t>
            </a:r>
            <a:r>
              <a:rPr lang="en-US" dirty="0"/>
              <a:t>(</a:t>
            </a:r>
            <a:r>
              <a:rPr lang="en-US" dirty="0" err="1"/>
              <a:t>x,y</a:t>
            </a:r>
            <a:r>
              <a:rPr lang="en-US" dirty="0"/>
              <a:t>)</a:t>
            </a:r>
            <a:r>
              <a:rPr lang="ru-RU" dirty="0"/>
              <a:t>∪</a:t>
            </a:r>
            <a:r>
              <a:rPr lang="en-US" dirty="0"/>
              <a:t>{(x</a:t>
            </a:r>
            <a:r>
              <a:rPr lang="ru-RU" dirty="0"/>
              <a:t>±</a:t>
            </a:r>
            <a:r>
              <a:rPr lang="en-US" dirty="0"/>
              <a:t>1,y</a:t>
            </a:r>
            <a:r>
              <a:rPr lang="ru-RU" dirty="0"/>
              <a:t> ±</a:t>
            </a:r>
            <a:r>
              <a:rPr lang="en-US" dirty="0"/>
              <a:t>1)}</a:t>
            </a:r>
            <a:r>
              <a:rPr lang="ru-RU" dirty="0"/>
              <a:t> ∩</a:t>
            </a:r>
            <a:r>
              <a:rPr lang="en-US" dirty="0"/>
              <a:t> V </a:t>
            </a:r>
          </a:p>
          <a:p>
            <a:r>
              <a:rPr lang="ru-RU" dirty="0"/>
              <a:t>Граф</a:t>
            </a:r>
            <a:r>
              <a:rPr lang="en-US" dirty="0"/>
              <a:t>: G = (V, E), </a:t>
            </a:r>
            <a:r>
              <a:rPr lang="ru-RU" dirty="0"/>
              <a:t>где</a:t>
            </a:r>
          </a:p>
          <a:p>
            <a:r>
              <a:rPr lang="en-US" dirty="0"/>
              <a:t>E = {(u, v) | v </a:t>
            </a:r>
            <a:r>
              <a:rPr lang="ru-RU" dirty="0"/>
              <a:t>∈</a:t>
            </a:r>
            <a:r>
              <a:rPr lang="en-US" dirty="0"/>
              <a:t> N(u)}</a:t>
            </a:r>
          </a:p>
          <a:p>
            <a:endParaRPr lang="en-US" baseline="-250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5325E06-83A0-4A9D-B477-5CCC99FBD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1677" y="2866173"/>
            <a:ext cx="1790950" cy="176237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792C1C3-FBDF-47C4-8F3C-CFD7851C87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76" y="2866173"/>
            <a:ext cx="1743318" cy="175284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54B9C1-717A-4817-9999-E09794BFC2D4}"/>
              </a:ext>
            </a:extLst>
          </p:cNvPr>
          <p:cNvSpPr txBox="1"/>
          <p:nvPr/>
        </p:nvSpPr>
        <p:spPr>
          <a:xfrm>
            <a:off x="5541818" y="1177637"/>
            <a:ext cx="12747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Дано</a:t>
            </a:r>
            <a:r>
              <a:rPr lang="en-US" dirty="0"/>
              <a:t>: s, t </a:t>
            </a:r>
            <a:r>
              <a:rPr lang="ru-RU" dirty="0"/>
              <a:t>∈</a:t>
            </a:r>
            <a:r>
              <a:rPr lang="en-US" dirty="0"/>
              <a:t> V</a:t>
            </a:r>
            <a:endParaRPr lang="ru-RU" dirty="0"/>
          </a:p>
        </p:txBody>
      </p:sp>
      <p:pic>
        <p:nvPicPr>
          <p:cNvPr id="2052" name="Picture 4" descr="A* pathfinding algorithm - Growing with the Web">
            <a:extLst>
              <a:ext uri="{FF2B5EF4-FFF2-40B4-BE49-F238E27FC236}">
                <a16:creationId xmlns:a16="http://schemas.microsoft.com/office/drawing/2014/main" id="{0BB668C9-BC4B-4B66-BD75-9CE8764E6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561" y="2251363"/>
            <a:ext cx="3309863" cy="1898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D525E93-BEB6-4055-9B5A-0830FACF41D4}"/>
              </a:ext>
            </a:extLst>
          </p:cNvPr>
          <p:cNvSpPr txBox="1"/>
          <p:nvPr/>
        </p:nvSpPr>
        <p:spPr>
          <a:xfrm>
            <a:off x="6750716" y="1941949"/>
            <a:ext cx="657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 = 7</a:t>
            </a: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D5C33E-26A2-434C-B29F-821FBA61C874}"/>
              </a:ext>
            </a:extLst>
          </p:cNvPr>
          <p:cNvSpPr txBox="1"/>
          <p:nvPr/>
        </p:nvSpPr>
        <p:spPr>
          <a:xfrm>
            <a:off x="4807084" y="3046510"/>
            <a:ext cx="6174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 = 4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E43191-9B67-46DA-A70A-CBFBCAA5A34B}"/>
              </a:ext>
            </a:extLst>
          </p:cNvPr>
          <p:cNvSpPr txBox="1"/>
          <p:nvPr/>
        </p:nvSpPr>
        <p:spPr>
          <a:xfrm>
            <a:off x="5541818" y="2322368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F16A0A-012D-41AB-9E3D-85F9066C760C}"/>
              </a:ext>
            </a:extLst>
          </p:cNvPr>
          <p:cNvSpPr txBox="1"/>
          <p:nvPr/>
        </p:nvSpPr>
        <p:spPr>
          <a:xfrm>
            <a:off x="8355278" y="3742595"/>
            <a:ext cx="234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809FD9-DC40-43AD-B216-748E50526275}"/>
              </a:ext>
            </a:extLst>
          </p:cNvPr>
          <p:cNvSpPr txBox="1"/>
          <p:nvPr/>
        </p:nvSpPr>
        <p:spPr>
          <a:xfrm>
            <a:off x="6493434" y="4197927"/>
            <a:ext cx="1172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8-связность</a:t>
            </a:r>
          </a:p>
        </p:txBody>
      </p:sp>
    </p:spTree>
    <p:extLst>
      <p:ext uri="{BB962C8B-B14F-4D97-AF65-F5344CB8AC3E}">
        <p14:creationId xmlns:p14="http://schemas.microsoft.com/office/powerpoint/2010/main" val="2206207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8E0CB6-A9A7-4BC2-97A9-088051696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2800" b="1" dirty="0"/>
              <a:t>Постановка задачи</a:t>
            </a:r>
            <a:endParaRPr lang="ru-RU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CA3080C-6908-4B97-ADBB-BE942DD735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5</a:t>
            </a:fld>
            <a:endParaRPr lang="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E01BF9-747A-4F9F-87EE-69A3059621FE}"/>
              </a:ext>
            </a:extLst>
          </p:cNvPr>
          <p:cNvSpPr txBox="1"/>
          <p:nvPr/>
        </p:nvSpPr>
        <p:spPr>
          <a:xfrm>
            <a:off x="318627" y="1226128"/>
            <a:ext cx="5171609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Стоимость клетки</a:t>
            </a:r>
            <a:r>
              <a:rPr lang="en-US" dirty="0"/>
              <a:t>:</a:t>
            </a:r>
          </a:p>
          <a:p>
            <a:r>
              <a:rPr lang="en-US" dirty="0"/>
              <a:t>w: V -&gt; R</a:t>
            </a:r>
            <a:r>
              <a:rPr lang="en-US" baseline="-25000" dirty="0"/>
              <a:t>&gt;0</a:t>
            </a:r>
            <a:endParaRPr lang="en-US" dirty="0"/>
          </a:p>
          <a:p>
            <a:r>
              <a:rPr lang="ru-RU" dirty="0"/>
              <a:t>Веса ребер</a:t>
            </a:r>
            <a:r>
              <a:rPr lang="en-US" dirty="0"/>
              <a:t>:</a:t>
            </a:r>
            <a:endParaRPr lang="ru-RU" dirty="0"/>
          </a:p>
          <a:p>
            <a:r>
              <a:rPr lang="en-US" dirty="0"/>
              <a:t>c: E -&gt; R</a:t>
            </a:r>
            <a:r>
              <a:rPr lang="en-US" baseline="-25000" dirty="0"/>
              <a:t>&gt;0</a:t>
            </a:r>
            <a:endParaRPr lang="en-US" dirty="0"/>
          </a:p>
          <a:p>
            <a:r>
              <a:rPr lang="ru-RU" dirty="0"/>
              <a:t>Ортогональный шаг</a:t>
            </a:r>
            <a:r>
              <a:rPr lang="en-US" dirty="0"/>
              <a:t>:</a:t>
            </a:r>
          </a:p>
          <a:p>
            <a:r>
              <a:rPr lang="en-US" dirty="0"/>
              <a:t>c(</a:t>
            </a:r>
            <a:r>
              <a:rPr lang="en-US" dirty="0" err="1"/>
              <a:t>u,v</a:t>
            </a:r>
            <a:r>
              <a:rPr lang="en-US" dirty="0"/>
              <a:t>)= </a:t>
            </a:r>
            <a:r>
              <a:rPr lang="ru-RU" dirty="0"/>
              <a:t>(</a:t>
            </a:r>
            <a:r>
              <a:rPr lang="en-US" dirty="0"/>
              <a:t>w(u) + w(v))/2</a:t>
            </a:r>
          </a:p>
          <a:p>
            <a:r>
              <a:rPr lang="ru-RU" dirty="0"/>
              <a:t>Диагональный шаг</a:t>
            </a:r>
            <a:r>
              <a:rPr lang="en-US" dirty="0"/>
              <a:t>:</a:t>
            </a:r>
          </a:p>
          <a:p>
            <a:r>
              <a:rPr lang="en-US" dirty="0"/>
              <a:t>c(</a:t>
            </a:r>
            <a:r>
              <a:rPr lang="en-US" dirty="0" err="1"/>
              <a:t>u,v</a:t>
            </a:r>
            <a:r>
              <a:rPr lang="en-US" dirty="0"/>
              <a:t>)=</a:t>
            </a:r>
            <a:r>
              <a:rPr lang="ru-RU" dirty="0"/>
              <a:t> √ 2</a:t>
            </a:r>
            <a:r>
              <a:rPr lang="en-US" dirty="0"/>
              <a:t>(w(u)+w(v)+w(a)+w(b))/4</a:t>
            </a:r>
            <a:r>
              <a:rPr lang="ru-RU" dirty="0"/>
              <a:t>,</a:t>
            </a:r>
          </a:p>
          <a:p>
            <a:r>
              <a:rPr lang="ru-RU" dirty="0"/>
              <a:t>Где </a:t>
            </a:r>
            <a:r>
              <a:rPr lang="en-US" dirty="0"/>
              <a:t>a, b -</a:t>
            </a:r>
            <a:r>
              <a:rPr lang="ru-RU" dirty="0"/>
              <a:t> две “боковые” клетки, примыкающие к диагонали.</a:t>
            </a:r>
            <a:endParaRPr lang="en-US" dirty="0"/>
          </a:p>
          <a:p>
            <a:endParaRPr lang="en-US" dirty="0"/>
          </a:p>
          <a:p>
            <a:r>
              <a:rPr lang="en-US" dirty="0"/>
              <a:t>Uniform </a:t>
            </a:r>
            <a:r>
              <a:rPr lang="ru-RU" dirty="0"/>
              <a:t>случай</a:t>
            </a:r>
            <a:r>
              <a:rPr lang="en-US" dirty="0"/>
              <a:t>: w ≡ 1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5314B41-47F1-4B06-82F7-B03DC1CC7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163" y="3240037"/>
            <a:ext cx="1780904" cy="17369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3BD8321-4869-4D54-9E50-C68D148711BB}"/>
              </a:ext>
            </a:extLst>
          </p:cNvPr>
          <p:cNvSpPr txBox="1"/>
          <p:nvPr/>
        </p:nvSpPr>
        <p:spPr>
          <a:xfrm>
            <a:off x="5490236" y="1226128"/>
            <a:ext cx="278313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Путь</a:t>
            </a:r>
            <a:r>
              <a:rPr lang="en-US" dirty="0"/>
              <a:t>: P = (v</a:t>
            </a:r>
            <a:r>
              <a:rPr lang="en-US" baseline="-25000" dirty="0"/>
              <a:t>0</a:t>
            </a:r>
            <a:r>
              <a:rPr lang="en-US" dirty="0"/>
              <a:t>,…,</a:t>
            </a:r>
            <a:r>
              <a:rPr lang="en-US" dirty="0" err="1"/>
              <a:t>v</a:t>
            </a:r>
            <a:r>
              <a:rPr lang="en-US" baseline="-25000" dirty="0" err="1"/>
              <a:t>k</a:t>
            </a:r>
            <a:r>
              <a:rPr lang="en-US" dirty="0"/>
              <a:t>),</a:t>
            </a:r>
            <a:r>
              <a:rPr lang="ru-RU" dirty="0"/>
              <a:t> где</a:t>
            </a:r>
          </a:p>
          <a:p>
            <a:r>
              <a:rPr lang="en-US" dirty="0"/>
              <a:t>v</a:t>
            </a:r>
            <a:r>
              <a:rPr lang="en-US" baseline="-25000" dirty="0"/>
              <a:t>0</a:t>
            </a:r>
            <a:r>
              <a:rPr lang="en-US" dirty="0"/>
              <a:t>=s, </a:t>
            </a:r>
            <a:r>
              <a:rPr lang="en-US" dirty="0" err="1"/>
              <a:t>v</a:t>
            </a:r>
            <a:r>
              <a:rPr lang="en-US" baseline="-25000" dirty="0" err="1"/>
              <a:t>k</a:t>
            </a:r>
            <a:r>
              <a:rPr lang="en-US" dirty="0"/>
              <a:t>=t, (v</a:t>
            </a:r>
            <a:r>
              <a:rPr lang="en-US" baseline="-25000" dirty="0"/>
              <a:t>i</a:t>
            </a:r>
            <a:r>
              <a:rPr lang="en-US" dirty="0"/>
              <a:t>,v</a:t>
            </a:r>
            <a:r>
              <a:rPr lang="en-US" baseline="-25000" dirty="0"/>
              <a:t>i+1</a:t>
            </a:r>
            <a:r>
              <a:rPr lang="en-US" dirty="0"/>
              <a:t>)</a:t>
            </a:r>
            <a:r>
              <a:rPr lang="ru-RU" dirty="0"/>
              <a:t> ∈</a:t>
            </a:r>
            <a:r>
              <a:rPr lang="en-US" dirty="0"/>
              <a:t> E</a:t>
            </a:r>
          </a:p>
          <a:p>
            <a:endParaRPr lang="ru-RU" dirty="0"/>
          </a:p>
          <a:p>
            <a:r>
              <a:rPr lang="ru-RU" dirty="0"/>
              <a:t>Стоимость пути</a:t>
            </a:r>
            <a:r>
              <a:rPr lang="en-US" dirty="0"/>
              <a:t>:</a:t>
            </a:r>
          </a:p>
          <a:p>
            <a:r>
              <a:rPr lang="en-US" dirty="0"/>
              <a:t>C(P) = </a:t>
            </a:r>
            <a:r>
              <a:rPr lang="el-GR" dirty="0"/>
              <a:t>Σ</a:t>
            </a:r>
            <a:r>
              <a:rPr lang="en-US" baseline="30000" dirty="0"/>
              <a:t>k-1</a:t>
            </a:r>
            <a:r>
              <a:rPr lang="en-US" dirty="0"/>
              <a:t>c(v</a:t>
            </a:r>
            <a:r>
              <a:rPr lang="en-US" baseline="-25000" dirty="0"/>
              <a:t>i</a:t>
            </a:r>
            <a:r>
              <a:rPr lang="en-US" dirty="0"/>
              <a:t>,v</a:t>
            </a:r>
            <a:r>
              <a:rPr lang="en-US" baseline="-25000" dirty="0"/>
              <a:t>i+1</a:t>
            </a:r>
            <a:r>
              <a:rPr lang="en-US" dirty="0"/>
              <a:t>)</a:t>
            </a:r>
          </a:p>
          <a:p>
            <a:endParaRPr lang="ru-RU" dirty="0"/>
          </a:p>
          <a:p>
            <a:r>
              <a:rPr lang="ru-RU" dirty="0"/>
              <a:t>Задача</a:t>
            </a:r>
            <a:r>
              <a:rPr lang="en-US" dirty="0"/>
              <a:t>:</a:t>
            </a:r>
            <a:endParaRPr lang="ru-RU" dirty="0"/>
          </a:p>
          <a:p>
            <a:r>
              <a:rPr lang="ru-RU" dirty="0"/>
              <a:t>Найди оптимальный путь</a:t>
            </a:r>
            <a:r>
              <a:rPr lang="en-US" dirty="0"/>
              <a:t>:</a:t>
            </a:r>
            <a:endParaRPr lang="ru-RU" dirty="0"/>
          </a:p>
          <a:p>
            <a:r>
              <a:rPr lang="en-US" dirty="0"/>
              <a:t>P* = </a:t>
            </a:r>
            <a:r>
              <a:rPr lang="en-US" dirty="0" err="1"/>
              <a:t>argmin</a:t>
            </a:r>
            <a:r>
              <a:rPr lang="en-US" dirty="0"/>
              <a:t> C(P)</a:t>
            </a:r>
            <a:r>
              <a:rPr lang="ru-RU" dirty="0"/>
              <a:t>, где минимум </a:t>
            </a:r>
          </a:p>
          <a:p>
            <a:r>
              <a:rPr lang="ru-RU" dirty="0"/>
              <a:t>Берется по всем путям из </a:t>
            </a:r>
            <a:r>
              <a:rPr lang="en-US" dirty="0"/>
              <a:t>s </a:t>
            </a:r>
            <a:r>
              <a:rPr lang="ru-RU" dirty="0"/>
              <a:t>в </a:t>
            </a:r>
            <a:r>
              <a:rPr lang="en-US" dirty="0"/>
              <a:t>t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41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157E8B-AF5F-4A9A-B97B-AC4A62BA7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400" b="1" dirty="0"/>
              <a:t>Базовый подход: A* и его ограничения</a:t>
            </a: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348ED9-4DF4-4571-A4C2-C762285F1C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6</a:t>
            </a:fld>
            <a:endParaRPr lang="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2F965BA-97D8-415D-A6AE-36F0C4DBA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23" y="1017725"/>
            <a:ext cx="3805913" cy="34033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D8BC76-8A04-4A9F-832B-28553C8F87A0}"/>
              </a:ext>
            </a:extLst>
          </p:cNvPr>
          <p:cNvSpPr txBox="1"/>
          <p:nvPr/>
        </p:nvSpPr>
        <p:spPr>
          <a:xfrm>
            <a:off x="4708204" y="1017725"/>
            <a:ext cx="415530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</a:t>
            </a:r>
            <a:r>
              <a:rPr lang="ru-RU" dirty="0"/>
              <a:t>На </a:t>
            </a:r>
            <a:r>
              <a:rPr lang="en-US" dirty="0"/>
              <a:t>grid</a:t>
            </a:r>
            <a:r>
              <a:rPr lang="ru-RU" dirty="0"/>
              <a:t> оптимальный путь можно получить</a:t>
            </a:r>
          </a:p>
          <a:p>
            <a:r>
              <a:rPr lang="ru-RU" b="1" dirty="0"/>
              <a:t>перестановкой шагов</a:t>
            </a:r>
            <a:endParaRPr lang="en-US" b="1" dirty="0"/>
          </a:p>
          <a:p>
            <a:r>
              <a:rPr lang="en-US" dirty="0"/>
              <a:t>- </a:t>
            </a:r>
            <a:r>
              <a:rPr lang="ru-RU" dirty="0"/>
              <a:t>Это порождает класс </a:t>
            </a:r>
            <a:r>
              <a:rPr lang="en-US" dirty="0"/>
              <a:t>“</a:t>
            </a:r>
            <a:r>
              <a:rPr lang="ru-RU" dirty="0"/>
              <a:t>симметричных</a:t>
            </a:r>
            <a:r>
              <a:rPr lang="en-US" dirty="0"/>
              <a:t>” </a:t>
            </a:r>
            <a:r>
              <a:rPr lang="ru-RU" dirty="0"/>
              <a:t>путей</a:t>
            </a:r>
          </a:p>
          <a:p>
            <a:r>
              <a:rPr lang="ru-RU" dirty="0"/>
              <a:t>- </a:t>
            </a:r>
            <a:r>
              <a:rPr lang="en-US" dirty="0"/>
              <a:t>A*</a:t>
            </a:r>
            <a:r>
              <a:rPr lang="ru-RU" dirty="0"/>
              <a:t> не умеет разрешать симметрии -</a:t>
            </a:r>
            <a:r>
              <a:rPr lang="en-US" dirty="0"/>
              <a:t>&gt; </a:t>
            </a:r>
            <a:r>
              <a:rPr lang="ru-RU" dirty="0"/>
              <a:t>лишние </a:t>
            </a:r>
          </a:p>
          <a:p>
            <a:r>
              <a:rPr lang="ru-RU" dirty="0"/>
              <a:t>расширения</a:t>
            </a:r>
          </a:p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A4C3E8-BAF6-4B6B-856B-20A00FA65005}"/>
              </a:ext>
            </a:extLst>
          </p:cNvPr>
          <p:cNvSpPr txBox="1"/>
          <p:nvPr/>
        </p:nvSpPr>
        <p:spPr>
          <a:xfrm>
            <a:off x="1630079" y="1294723"/>
            <a:ext cx="1537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Symmetry region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447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9392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2000" b="1"/>
              <a:t>Jump Point Search (JPS): Основная идея (Harabor &amp; Grastien 2011)</a:t>
            </a:r>
            <a:endParaRPr sz="2000" b="1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SzPts val="990"/>
              <a:buNone/>
            </a:pPr>
            <a:endParaRPr sz="2000"/>
          </a:p>
        </p:txBody>
      </p:sp>
      <p:sp>
        <p:nvSpPr>
          <p:cNvPr id="103" name="Google Shape;10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7</a:t>
            </a:fld>
            <a:endParaRPr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0FBF3D7-F3B6-45AE-A6DD-993CB88B6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72373"/>
            <a:ext cx="3498810" cy="238473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FD41D20-E29A-48C3-8BEB-E9663325A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730" y="1172372"/>
            <a:ext cx="3429928" cy="23847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0A021AE-4723-4997-B378-99A3B2FF53B3}"/>
              </a:ext>
            </a:extLst>
          </p:cNvPr>
          <p:cNvSpPr txBox="1"/>
          <p:nvPr/>
        </p:nvSpPr>
        <p:spPr>
          <a:xfrm>
            <a:off x="311700" y="3557105"/>
            <a:ext cx="39116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A*: </a:t>
            </a:r>
            <a:r>
              <a:rPr lang="ru-RU" dirty="0"/>
              <a:t>симметрия -</a:t>
            </a:r>
            <a:r>
              <a:rPr lang="en-US" dirty="0"/>
              <a:t>&gt; </a:t>
            </a:r>
            <a:r>
              <a:rPr lang="ru-RU" dirty="0"/>
              <a:t>много равносильных путей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F4E0E3-A239-4470-9CD4-616A683B09CE}"/>
              </a:ext>
            </a:extLst>
          </p:cNvPr>
          <p:cNvSpPr txBox="1"/>
          <p:nvPr/>
        </p:nvSpPr>
        <p:spPr>
          <a:xfrm>
            <a:off x="4700272" y="3557105"/>
            <a:ext cx="3821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JPS:</a:t>
            </a:r>
            <a:r>
              <a:rPr lang="ru-RU" dirty="0"/>
              <a:t> оставляет только один - канонический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1B641E-5AB7-4A50-8A09-276B7F7F0C84}"/>
              </a:ext>
            </a:extLst>
          </p:cNvPr>
          <p:cNvSpPr txBox="1"/>
          <p:nvPr/>
        </p:nvSpPr>
        <p:spPr>
          <a:xfrm>
            <a:off x="311700" y="3971127"/>
            <a:ext cx="739978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Pruning: </a:t>
            </a:r>
            <a:r>
              <a:rPr lang="ru-RU" dirty="0"/>
              <a:t>оставляем только </a:t>
            </a:r>
            <a:r>
              <a:rPr lang="en-US" dirty="0"/>
              <a:t>“</a:t>
            </a:r>
            <a:r>
              <a:rPr lang="ru-RU" dirty="0"/>
              <a:t>канонические</a:t>
            </a:r>
            <a:r>
              <a:rPr lang="en-US" dirty="0"/>
              <a:t>”</a:t>
            </a:r>
            <a:r>
              <a:rPr lang="ru-RU" dirty="0"/>
              <a:t> направления движения</a:t>
            </a:r>
          </a:p>
          <a:p>
            <a:pPr marL="285750" indent="-285750">
              <a:buFontTx/>
              <a:buChar char="-"/>
            </a:pPr>
            <a:r>
              <a:rPr lang="en-US" dirty="0"/>
              <a:t>Jumping: “</a:t>
            </a:r>
            <a:r>
              <a:rPr lang="ru-RU" dirty="0"/>
              <a:t>прыгаем</a:t>
            </a:r>
            <a:r>
              <a:rPr lang="en-US" dirty="0"/>
              <a:t>” </a:t>
            </a:r>
            <a:r>
              <a:rPr lang="ru-RU" dirty="0"/>
              <a:t>по прямой до клетки, где вынуждены </a:t>
            </a:r>
            <a:r>
              <a:rPr lang="en-US" dirty="0"/>
              <a:t>“</a:t>
            </a:r>
            <a:r>
              <a:rPr lang="ru-RU" dirty="0"/>
              <a:t>ветвиться</a:t>
            </a:r>
            <a:r>
              <a:rPr lang="en-US" dirty="0"/>
              <a:t>”</a:t>
            </a:r>
          </a:p>
          <a:p>
            <a:pPr marL="285750" indent="-285750">
              <a:buFontTx/>
              <a:buChar char="-"/>
            </a:pPr>
            <a:r>
              <a:rPr lang="ru-RU" dirty="0"/>
              <a:t>В итоге</a:t>
            </a:r>
            <a:r>
              <a:rPr lang="en-US" dirty="0"/>
              <a:t>: </a:t>
            </a:r>
            <a:r>
              <a:rPr lang="ru-RU" dirty="0"/>
              <a:t>оптимальность сохраняется, меньше расширений и операций с очередью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/>
              <a:t>Pruning в JPS</a:t>
            </a:r>
            <a:endParaRPr b="1" dirty="0"/>
          </a:p>
        </p:txBody>
      </p:sp>
      <p:sp>
        <p:nvSpPr>
          <p:cNvPr id="110" name="Google Shape;11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8</a:t>
            </a:fld>
            <a:endParaRPr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48B5606-AFB2-4B50-8659-884532ADE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27" y="1154402"/>
            <a:ext cx="1536584" cy="145696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761A9C2-B86A-4282-85F6-339C9EB20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2693" y="1154402"/>
            <a:ext cx="1536584" cy="149656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D6AF34A-806B-4F10-B3E2-8A2B897CF3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1" y="1154402"/>
            <a:ext cx="1551998" cy="14965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7D9FCD3-971E-4F94-9BE0-3BA230AF065A}"/>
              </a:ext>
            </a:extLst>
          </p:cNvPr>
          <p:cNvSpPr txBox="1"/>
          <p:nvPr/>
        </p:nvSpPr>
        <p:spPr>
          <a:xfrm>
            <a:off x="583927" y="3061855"/>
            <a:ext cx="531267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Идея</a:t>
            </a:r>
            <a:r>
              <a:rPr lang="en-US" dirty="0"/>
              <a:t>: </a:t>
            </a:r>
            <a:r>
              <a:rPr lang="ru-RU" dirty="0"/>
              <a:t>8 соседей -</a:t>
            </a:r>
            <a:r>
              <a:rPr lang="en-US" dirty="0"/>
              <a:t>&gt; </a:t>
            </a:r>
            <a:r>
              <a:rPr lang="ru-RU" dirty="0"/>
              <a:t>≤</a:t>
            </a:r>
            <a:r>
              <a:rPr lang="en-US" dirty="0"/>
              <a:t> 3 “</a:t>
            </a:r>
            <a:r>
              <a:rPr lang="ru-RU" dirty="0"/>
              <a:t>естественных</a:t>
            </a:r>
            <a:r>
              <a:rPr lang="en-US" dirty="0"/>
              <a:t>” </a:t>
            </a:r>
            <a:r>
              <a:rPr lang="ru-RU" dirty="0"/>
              <a:t>направлений (</a:t>
            </a:r>
            <a:r>
              <a:rPr lang="en-US" dirty="0"/>
              <a:t>+forced)</a:t>
            </a:r>
          </a:p>
          <a:p>
            <a:r>
              <a:rPr lang="en-US" b="1" dirty="0"/>
              <a:t>Forced </a:t>
            </a:r>
            <a:r>
              <a:rPr lang="en-US" b="1" dirty="0" err="1"/>
              <a:t>neighbours</a:t>
            </a:r>
            <a:r>
              <a:rPr lang="en-US" b="1" dirty="0"/>
              <a:t>: </a:t>
            </a:r>
            <a:r>
              <a:rPr lang="ru-RU" dirty="0"/>
              <a:t>появляется из-за препятствий</a:t>
            </a:r>
          </a:p>
          <a:p>
            <a:r>
              <a:rPr lang="ru-RU" b="1" dirty="0"/>
              <a:t>Итого</a:t>
            </a:r>
            <a:r>
              <a:rPr lang="en-US" b="1" dirty="0"/>
              <a:t>:</a:t>
            </a:r>
            <a:r>
              <a:rPr lang="ru-RU" dirty="0"/>
              <a:t> среди всех путей выбираем </a:t>
            </a:r>
            <a:r>
              <a:rPr lang="en-US" dirty="0"/>
              <a:t>“</a:t>
            </a:r>
            <a:r>
              <a:rPr lang="ru-RU" dirty="0"/>
              <a:t>канонический</a:t>
            </a:r>
            <a:r>
              <a:rPr lang="en-US" dirty="0"/>
              <a:t>”</a:t>
            </a:r>
            <a:endParaRPr lang="ru-RU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/>
              <a:t>Jumping в JPS</a:t>
            </a:r>
            <a:endParaRPr b="1" dirty="0"/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9</a:t>
            </a:fld>
            <a:endParaRPr/>
          </a:p>
        </p:txBody>
      </p:sp>
      <p:sp>
        <p:nvSpPr>
          <p:cNvPr id="122" name="Google Shape;122;p20"/>
          <p:cNvSpPr txBox="1"/>
          <p:nvPr/>
        </p:nvSpPr>
        <p:spPr>
          <a:xfrm>
            <a:off x="4572000" y="1209733"/>
            <a:ext cx="3972600" cy="2893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ru-RU" sz="1600" dirty="0">
                <a:solidFill>
                  <a:schemeClr val="dk2"/>
                </a:solidFill>
              </a:rPr>
              <a:t>Идея</a:t>
            </a:r>
            <a:r>
              <a:rPr lang="en-US" sz="1600" dirty="0">
                <a:solidFill>
                  <a:schemeClr val="dk2"/>
                </a:solidFill>
              </a:rPr>
              <a:t>: </a:t>
            </a:r>
            <a:r>
              <a:rPr lang="ru-RU" sz="1600" dirty="0">
                <a:solidFill>
                  <a:schemeClr val="dk2"/>
                </a:solidFill>
              </a:rPr>
              <a:t>вместо добавления направлений после </a:t>
            </a:r>
            <a:r>
              <a:rPr lang="en-US" sz="1600" dirty="0">
                <a:solidFill>
                  <a:schemeClr val="dk2"/>
                </a:solidFill>
              </a:rPr>
              <a:t>pruning </a:t>
            </a:r>
            <a:r>
              <a:rPr lang="ru-RU" sz="1600" dirty="0">
                <a:solidFill>
                  <a:schemeClr val="dk2"/>
                </a:solidFill>
              </a:rPr>
              <a:t>в очередь идем сразу до </a:t>
            </a:r>
            <a:r>
              <a:rPr lang="en-US" sz="1600" dirty="0">
                <a:solidFill>
                  <a:schemeClr val="dk2"/>
                </a:solidFill>
              </a:rPr>
              <a:t>“</a:t>
            </a:r>
            <a:r>
              <a:rPr lang="ru-RU" sz="1600" dirty="0">
                <a:solidFill>
                  <a:schemeClr val="dk2"/>
                </a:solidFill>
              </a:rPr>
              <a:t>точки ветвления</a:t>
            </a:r>
            <a:r>
              <a:rPr lang="en-US" sz="1600" dirty="0">
                <a:solidFill>
                  <a:schemeClr val="dk2"/>
                </a:solidFill>
              </a:rPr>
              <a:t>” (jump point)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US" sz="1600" dirty="0">
                <a:solidFill>
                  <a:schemeClr val="dk2"/>
                </a:solidFill>
              </a:rPr>
              <a:t>Jump point</a:t>
            </a:r>
            <a:r>
              <a:rPr lang="ru-RU" sz="1600" dirty="0">
                <a:solidFill>
                  <a:schemeClr val="dk2"/>
                </a:solidFill>
              </a:rPr>
              <a:t> возникает если</a:t>
            </a:r>
            <a:r>
              <a:rPr lang="en-US" sz="1600" dirty="0">
                <a:solidFill>
                  <a:schemeClr val="dk2"/>
                </a:solidFill>
              </a:rPr>
              <a:t>:</a:t>
            </a:r>
          </a:p>
          <a:p>
            <a:pPr marL="457200" lvl="1" indent="-330200">
              <a:buClr>
                <a:schemeClr val="dk2"/>
              </a:buClr>
              <a:buSzPts val="1600"/>
              <a:buChar char="●"/>
            </a:pPr>
            <a:r>
              <a:rPr lang="ru-RU" sz="1600" dirty="0">
                <a:solidFill>
                  <a:schemeClr val="dk2"/>
                </a:solidFill>
              </a:rPr>
              <a:t>уперлись в стену</a:t>
            </a:r>
            <a:r>
              <a:rPr lang="en-US" sz="1600" dirty="0">
                <a:solidFill>
                  <a:schemeClr val="dk2"/>
                </a:solidFill>
              </a:rPr>
              <a:t>/</a:t>
            </a:r>
            <a:r>
              <a:rPr lang="ru-RU" sz="1600" dirty="0">
                <a:solidFill>
                  <a:schemeClr val="dk2"/>
                </a:solidFill>
              </a:rPr>
              <a:t>пришли в цель</a:t>
            </a:r>
            <a:r>
              <a:rPr lang="en-US" sz="1600" dirty="0">
                <a:solidFill>
                  <a:schemeClr val="dk2"/>
                </a:solidFill>
              </a:rPr>
              <a:t>/forced neighbor</a:t>
            </a:r>
            <a:endParaRPr lang="ru-RU" sz="1600" dirty="0">
              <a:solidFill>
                <a:schemeClr val="dk2"/>
              </a:solidFill>
            </a:endParaRPr>
          </a:p>
          <a:p>
            <a:pPr marL="457200" lvl="1" indent="-330200">
              <a:buClr>
                <a:schemeClr val="dk2"/>
              </a:buClr>
              <a:buSzPts val="1600"/>
              <a:buChar char="●"/>
            </a:pPr>
            <a:r>
              <a:rPr lang="ru-RU" sz="1600" dirty="0">
                <a:solidFill>
                  <a:schemeClr val="dk2"/>
                </a:solidFill>
              </a:rPr>
              <a:t>Диагональ -</a:t>
            </a:r>
            <a:r>
              <a:rPr lang="en-US" sz="1600" dirty="0">
                <a:solidFill>
                  <a:schemeClr val="dk2"/>
                </a:solidFill>
              </a:rPr>
              <a:t>&gt;</a:t>
            </a:r>
            <a:r>
              <a:rPr lang="ru-RU" sz="1600" dirty="0">
                <a:solidFill>
                  <a:schemeClr val="dk2"/>
                </a:solidFill>
              </a:rPr>
              <a:t> рекурсивно </a:t>
            </a:r>
            <a:r>
              <a:rPr lang="ru-RU" sz="1600" dirty="0" err="1">
                <a:solidFill>
                  <a:schemeClr val="dk2"/>
                </a:solidFill>
              </a:rPr>
              <a:t>ортогонали</a:t>
            </a:r>
            <a:endParaRPr lang="en-US" sz="1600" dirty="0">
              <a:solidFill>
                <a:schemeClr val="dk2"/>
              </a:solidFill>
            </a:endParaRPr>
          </a:p>
          <a:p>
            <a:pPr marL="457200" lvl="1" indent="-330200">
              <a:buClr>
                <a:schemeClr val="dk2"/>
              </a:buClr>
              <a:buSzPts val="1600"/>
              <a:buChar char="●"/>
            </a:pPr>
            <a:r>
              <a:rPr lang="ru-RU" sz="1600" dirty="0">
                <a:solidFill>
                  <a:schemeClr val="dk2"/>
                </a:solidFill>
              </a:rPr>
              <a:t>В очередь добавляем только</a:t>
            </a:r>
            <a:r>
              <a:rPr lang="en-US" sz="1600" dirty="0">
                <a:solidFill>
                  <a:schemeClr val="dk2"/>
                </a:solidFill>
              </a:rPr>
              <a:t> jump points</a:t>
            </a:r>
            <a:endParaRPr sz="1600" dirty="0">
              <a:solidFill>
                <a:schemeClr val="dk2"/>
              </a:solidFill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4880258" y="4102802"/>
            <a:ext cx="4140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dirty="0">
                <a:solidFill>
                  <a:schemeClr val="dk2"/>
                </a:solidFill>
              </a:rPr>
              <a:t>Эффект: уменьшается количество операций с очередью </a:t>
            </a:r>
            <a:endParaRPr sz="1600" dirty="0">
              <a:solidFill>
                <a:schemeClr val="dk2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076A632-AD5F-4D12-9291-AB5743610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469" y="1438752"/>
            <a:ext cx="3795306" cy="26385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0A5BB5-B3C6-4E32-8B62-57D40F8131AB}"/>
              </a:ext>
            </a:extLst>
          </p:cNvPr>
          <p:cNvSpPr txBox="1"/>
          <p:nvPr/>
        </p:nvSpPr>
        <p:spPr>
          <a:xfrm>
            <a:off x="2266122" y="283325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64A907-5CAF-4B7D-B5EF-28AE0ACAC700}"/>
              </a:ext>
            </a:extLst>
          </p:cNvPr>
          <p:cNvSpPr txBox="1"/>
          <p:nvPr/>
        </p:nvSpPr>
        <p:spPr>
          <a:xfrm>
            <a:off x="2709468" y="283325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23091F-3B52-4F64-8F80-AB6CD98515EE}"/>
              </a:ext>
            </a:extLst>
          </p:cNvPr>
          <p:cNvSpPr txBox="1"/>
          <p:nvPr/>
        </p:nvSpPr>
        <p:spPr>
          <a:xfrm>
            <a:off x="614159" y="164233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617219-1820-4D71-A9FB-0F20A74788E2}"/>
              </a:ext>
            </a:extLst>
          </p:cNvPr>
          <p:cNvSpPr txBox="1"/>
          <p:nvPr/>
        </p:nvSpPr>
        <p:spPr>
          <a:xfrm>
            <a:off x="1053850" y="213359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E5D9C3-A06C-4438-9694-7E50E96E3120}"/>
              </a:ext>
            </a:extLst>
          </p:cNvPr>
          <p:cNvSpPr txBox="1"/>
          <p:nvPr/>
        </p:nvSpPr>
        <p:spPr>
          <a:xfrm>
            <a:off x="919439" y="4273923"/>
            <a:ext cx="2454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0-&gt;3 </a:t>
            </a:r>
            <a:r>
              <a:rPr lang="ru-RU" dirty="0"/>
              <a:t>– диагональный </a:t>
            </a:r>
            <a:r>
              <a:rPr lang="en-US" dirty="0"/>
              <a:t>jump</a:t>
            </a:r>
          </a:p>
          <a:p>
            <a:r>
              <a:rPr lang="en-US" dirty="0"/>
              <a:t>1-&gt;2 </a:t>
            </a:r>
            <a:r>
              <a:rPr lang="ru-RU" dirty="0"/>
              <a:t>– ортогональный </a:t>
            </a:r>
            <a:r>
              <a:rPr lang="en-US" dirty="0"/>
              <a:t>jump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 dirty="0"/>
              <a:t>JPSW объяснение</a:t>
            </a:r>
            <a:endParaRPr sz="2000" b="1" dirty="0"/>
          </a:p>
        </p:txBody>
      </p:sp>
      <p:sp>
        <p:nvSpPr>
          <p:cNvPr id="130" name="Google Shape;13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10</a:t>
            </a:fld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A59B8D-2625-4454-8C8D-396AD281CAB9}"/>
              </a:ext>
            </a:extLst>
          </p:cNvPr>
          <p:cNvSpPr txBox="1"/>
          <p:nvPr/>
        </p:nvSpPr>
        <p:spPr>
          <a:xfrm>
            <a:off x="1016622" y="4698475"/>
            <a:ext cx="2326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Голубой = 1, Зеленый =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D6B145-B5B8-4AC9-9D8C-552A021ECFF6}"/>
              </a:ext>
            </a:extLst>
          </p:cNvPr>
          <p:cNvSpPr txBox="1"/>
          <p:nvPr/>
        </p:nvSpPr>
        <p:spPr>
          <a:xfrm>
            <a:off x="4330214" y="1267692"/>
            <a:ext cx="441659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JPSW </a:t>
            </a:r>
            <a:r>
              <a:rPr lang="en-US" dirty="0"/>
              <a:t>= JPS </a:t>
            </a:r>
            <a:r>
              <a:rPr lang="ru-RU" dirty="0"/>
              <a:t>+ веса</a:t>
            </a:r>
            <a:r>
              <a:rPr lang="en-US" dirty="0"/>
              <a:t>: pruning/jumping </a:t>
            </a:r>
            <a:r>
              <a:rPr lang="ru-RU" dirty="0"/>
              <a:t>сохраняются, </a:t>
            </a:r>
          </a:p>
          <a:p>
            <a:r>
              <a:rPr lang="ru-RU" dirty="0"/>
              <a:t>но учитывают стоимость</a:t>
            </a:r>
          </a:p>
          <a:p>
            <a:r>
              <a:rPr lang="ru-RU" dirty="0"/>
              <a:t>Новый </a:t>
            </a:r>
            <a:r>
              <a:rPr lang="en-US" dirty="0"/>
              <a:t>jump points: </a:t>
            </a:r>
            <a:r>
              <a:rPr lang="ru-RU" dirty="0"/>
              <a:t>границы </a:t>
            </a:r>
            <a:r>
              <a:rPr lang="en-US" dirty="0"/>
              <a:t>terrain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B130981-B7FC-46FE-9183-BB88309BC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92" y="1038582"/>
            <a:ext cx="3451889" cy="36037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 dirty="0"/>
              <a:t>План экспериментов</a:t>
            </a:r>
            <a:endParaRPr sz="2000" b="1" dirty="0"/>
          </a:p>
        </p:txBody>
      </p:sp>
      <p:sp>
        <p:nvSpPr>
          <p:cNvPr id="137" name="Google Shape;13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681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" dirty="0">
                <a:solidFill>
                  <a:schemeClr val="dk1"/>
                </a:solidFill>
              </a:rPr>
              <a:t>Задачи</a:t>
            </a:r>
            <a:endParaRPr dirty="0">
              <a:solidFill>
                <a:schemeClr val="dk1"/>
              </a:solidFill>
            </a:endParaRPr>
          </a:p>
          <a:p>
            <a:pPr marL="914400" lvl="1" indent="-3041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ru" dirty="0">
                <a:solidFill>
                  <a:schemeClr val="dk1"/>
                </a:solidFill>
              </a:rPr>
              <a:t>Путь минимальной стоимости из s в t на Uniform Grid</a:t>
            </a:r>
            <a:endParaRPr dirty="0">
              <a:solidFill>
                <a:schemeClr val="dk1"/>
              </a:solidFill>
            </a:endParaRPr>
          </a:p>
          <a:p>
            <a:pPr marL="914400" lvl="1" indent="-3041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ru" dirty="0">
                <a:solidFill>
                  <a:schemeClr val="dk1"/>
                </a:solidFill>
              </a:rPr>
              <a:t>Путь минимальной стоимости из s в t на Weighted Grid</a:t>
            </a:r>
            <a:endParaRPr dirty="0">
              <a:solidFill>
                <a:schemeClr val="dk1"/>
              </a:solidFill>
            </a:endParaRPr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" dirty="0">
                <a:solidFill>
                  <a:schemeClr val="dk1"/>
                </a:solidFill>
              </a:rPr>
              <a:t>Данные</a:t>
            </a:r>
            <a:endParaRPr dirty="0">
              <a:solidFill>
                <a:schemeClr val="dk1"/>
              </a:solidFill>
            </a:endParaRPr>
          </a:p>
          <a:p>
            <a:pPr marL="914400" lvl="1" indent="-3041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ru" dirty="0">
                <a:solidFill>
                  <a:schemeClr val="dk1"/>
                </a:solidFill>
              </a:rPr>
              <a:t>Часть сетов из </a:t>
            </a:r>
            <a:r>
              <a:rPr lang="ru" u="sng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2D Pathfinding Benchmarks</a:t>
            </a:r>
            <a:r>
              <a:rPr lang="ru" dirty="0">
                <a:solidFill>
                  <a:schemeClr val="dk1"/>
                </a:solidFill>
              </a:rPr>
              <a:t> (maze, random, room, terrain)</a:t>
            </a:r>
            <a:endParaRPr dirty="0">
              <a:solidFill>
                <a:schemeClr val="dk1"/>
              </a:solidFill>
            </a:endParaRPr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" dirty="0">
                <a:solidFill>
                  <a:schemeClr val="dk1"/>
                </a:solidFill>
              </a:rPr>
              <a:t>Бейзлайн</a:t>
            </a:r>
            <a:endParaRPr dirty="0">
              <a:solidFill>
                <a:schemeClr val="dk1"/>
              </a:solidFill>
            </a:endParaRPr>
          </a:p>
          <a:p>
            <a:pPr marL="914400" lvl="1" indent="-3041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ru" dirty="0">
                <a:solidFill>
                  <a:schemeClr val="dk1"/>
                </a:solidFill>
              </a:rPr>
              <a:t>A*</a:t>
            </a:r>
            <a:endParaRPr dirty="0">
              <a:solidFill>
                <a:schemeClr val="dk1"/>
              </a:solidFill>
            </a:endParaRPr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" dirty="0">
                <a:solidFill>
                  <a:schemeClr val="dk1"/>
                </a:solidFill>
              </a:rPr>
              <a:t>Метрики</a:t>
            </a:r>
            <a:endParaRPr dirty="0">
              <a:solidFill>
                <a:schemeClr val="dk1"/>
              </a:solidFill>
            </a:endParaRPr>
          </a:p>
          <a:p>
            <a:pPr marL="914400" lvl="1" indent="-3041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ru" dirty="0">
                <a:solidFill>
                  <a:schemeClr val="dk1"/>
                </a:solidFill>
              </a:rPr>
              <a:t>Время работ</a:t>
            </a:r>
            <a:r>
              <a:rPr lang="ru-RU" dirty="0">
                <a:solidFill>
                  <a:schemeClr val="dk1"/>
                </a:solidFill>
              </a:rPr>
              <a:t>ы</a:t>
            </a:r>
            <a:endParaRPr lang="ru" dirty="0">
              <a:solidFill>
                <a:schemeClr val="dk1"/>
              </a:solidFill>
            </a:endParaRPr>
          </a:p>
          <a:p>
            <a:pPr marL="914400" lvl="1" indent="-3041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ru-RU" dirty="0">
                <a:solidFill>
                  <a:schemeClr val="dk1"/>
                </a:solidFill>
              </a:rPr>
              <a:t>Число расширений</a:t>
            </a:r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" dirty="0">
                <a:solidFill>
                  <a:schemeClr val="dk1"/>
                </a:solidFill>
              </a:rPr>
              <a:t>Графики</a:t>
            </a:r>
            <a:endParaRPr dirty="0">
              <a:solidFill>
                <a:schemeClr val="dk1"/>
              </a:solidFill>
            </a:endParaRPr>
          </a:p>
          <a:p>
            <a:pPr marL="914400" lvl="1" indent="-3041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ru" dirty="0">
                <a:solidFill>
                  <a:schemeClr val="dk1"/>
                </a:solidFill>
              </a:rPr>
              <a:t>A* vs JPS в задаче Uniform сетке. По оси X — алгоритм, по оси Y — значение метрики, усредненное по 100 запускам, с доверительными интервалами. По одному графику на каждую метрику</a:t>
            </a:r>
            <a:endParaRPr dirty="0">
              <a:solidFill>
                <a:schemeClr val="dk1"/>
              </a:solidFill>
            </a:endParaRPr>
          </a:p>
          <a:p>
            <a:pPr marL="914400" lvl="1" indent="-3041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ru" dirty="0">
                <a:solidFill>
                  <a:schemeClr val="dk1"/>
                </a:solidFill>
              </a:rPr>
              <a:t>A* vs JPSW с теми же графиками.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38" name="Google Shape;13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11</a:t>
            </a:fld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6301850" y="1152475"/>
            <a:ext cx="2395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Эксперименты: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JPS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JPSW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 dirty="0"/>
              <a:t>Графики</a:t>
            </a:r>
            <a:endParaRPr sz="2000" b="1" dirty="0"/>
          </a:p>
        </p:txBody>
      </p:sp>
      <p:sp>
        <p:nvSpPr>
          <p:cNvPr id="145" name="Google Shape;14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12</a:t>
            </a:fld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BF19979-95DD-4258-84F2-4CE6DA89E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82" y="851414"/>
            <a:ext cx="7883236" cy="39781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 dirty="0"/>
              <a:t>Графики</a:t>
            </a:r>
            <a:endParaRPr sz="2000" b="1" dirty="0"/>
          </a:p>
        </p:txBody>
      </p:sp>
      <p:sp>
        <p:nvSpPr>
          <p:cNvPr id="145" name="Google Shape;14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13</a:t>
            </a:fld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57B8FC5-F489-4092-951A-205A0F5B5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027" y="898642"/>
            <a:ext cx="7529945" cy="379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846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 dirty="0"/>
              <a:t>Графики</a:t>
            </a:r>
            <a:endParaRPr sz="2000" b="1" dirty="0"/>
          </a:p>
        </p:txBody>
      </p:sp>
      <p:sp>
        <p:nvSpPr>
          <p:cNvPr id="145" name="Google Shape;14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14</a:t>
            </a:fld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49DC8F-F3F9-49E1-AF9D-12A7CB593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375" y="935179"/>
            <a:ext cx="7551250" cy="381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089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 dirty="0"/>
              <a:t>Графики</a:t>
            </a:r>
            <a:endParaRPr sz="2000" b="1" dirty="0"/>
          </a:p>
        </p:txBody>
      </p:sp>
      <p:sp>
        <p:nvSpPr>
          <p:cNvPr id="145" name="Google Shape;14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15</a:t>
            </a:fld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B231212-5D21-4974-96E8-D199A5F15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54" y="994806"/>
            <a:ext cx="8049491" cy="406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499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 dirty="0"/>
              <a:t>Графики</a:t>
            </a:r>
            <a:endParaRPr sz="2000" b="1" dirty="0"/>
          </a:p>
        </p:txBody>
      </p:sp>
      <p:sp>
        <p:nvSpPr>
          <p:cNvPr id="145" name="Google Shape;14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16</a:t>
            </a:fld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AD685AC-76CA-46C4-B972-1AD7516AF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63" y="825971"/>
            <a:ext cx="7994073" cy="403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922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 dirty="0"/>
              <a:t>Графики</a:t>
            </a:r>
            <a:endParaRPr sz="2000" b="1" dirty="0"/>
          </a:p>
        </p:txBody>
      </p:sp>
      <p:sp>
        <p:nvSpPr>
          <p:cNvPr id="145" name="Google Shape;14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17</a:t>
            </a:fld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42DD5D8-94C4-4325-9269-5463EAB5C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82" y="920356"/>
            <a:ext cx="7807036" cy="393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42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 dirty="0"/>
              <a:t>Графики</a:t>
            </a:r>
            <a:endParaRPr sz="2000" b="1" dirty="0"/>
          </a:p>
        </p:txBody>
      </p:sp>
      <p:sp>
        <p:nvSpPr>
          <p:cNvPr id="145" name="Google Shape;14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18</a:t>
            </a:fld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4F37653-AC9B-431C-A59E-9DEAE38C5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09" y="1004252"/>
            <a:ext cx="7640782" cy="385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049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 dirty="0"/>
              <a:t>Графики</a:t>
            </a:r>
            <a:endParaRPr sz="2000" b="1" dirty="0"/>
          </a:p>
        </p:txBody>
      </p:sp>
      <p:sp>
        <p:nvSpPr>
          <p:cNvPr id="145" name="Google Shape;14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19</a:t>
            </a:fld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15D328C-6A6E-4685-91F9-F390D97AD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76" y="888894"/>
            <a:ext cx="7869382" cy="397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895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/>
              <a:t>Заключение</a:t>
            </a:r>
            <a:endParaRPr sz="2000" b="1" dirty="0"/>
          </a:p>
        </p:txBody>
      </p:sp>
      <p:sp>
        <p:nvSpPr>
          <p:cNvPr id="153" name="Google Shape;153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20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3F57D6-27A0-4BF2-89D6-EB6634227E24}"/>
              </a:ext>
            </a:extLst>
          </p:cNvPr>
          <p:cNvSpPr txBox="1"/>
          <p:nvPr/>
        </p:nvSpPr>
        <p:spPr>
          <a:xfrm>
            <a:off x="311700" y="1017725"/>
            <a:ext cx="810493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Сделали</a:t>
            </a:r>
            <a:r>
              <a:rPr lang="en-US" dirty="0"/>
              <a:t>:</a:t>
            </a:r>
          </a:p>
          <a:p>
            <a:pPr marL="285750" indent="-285750">
              <a:buFontTx/>
              <a:buChar char="-"/>
            </a:pPr>
            <a:r>
              <a:rPr lang="ru-RU" dirty="0"/>
              <a:t>Реализовали </a:t>
            </a:r>
            <a:r>
              <a:rPr lang="ru-RU" b="1" dirty="0"/>
              <a:t>A*</a:t>
            </a:r>
            <a:r>
              <a:rPr lang="ru-RU" dirty="0"/>
              <a:t>, </a:t>
            </a:r>
            <a:r>
              <a:rPr lang="ru-RU" b="1" dirty="0"/>
              <a:t>JPS</a:t>
            </a:r>
            <a:r>
              <a:rPr lang="ru-RU" dirty="0"/>
              <a:t> и базовый </a:t>
            </a:r>
            <a:r>
              <a:rPr lang="ru-RU" b="1" dirty="0"/>
              <a:t>JPSW</a:t>
            </a:r>
          </a:p>
          <a:p>
            <a:r>
              <a:rPr lang="ru-RU" dirty="0"/>
              <a:t>Получили</a:t>
            </a:r>
            <a:r>
              <a:rPr lang="en-US" dirty="0"/>
              <a:t>:</a:t>
            </a:r>
          </a:p>
          <a:p>
            <a:pPr marL="285750" indent="-285750">
              <a:buFontTx/>
              <a:buChar char="-"/>
            </a:pPr>
            <a:r>
              <a:rPr lang="ru-RU" dirty="0"/>
              <a:t>На </a:t>
            </a:r>
            <a:r>
              <a:rPr lang="ru-RU" dirty="0" err="1"/>
              <a:t>uniform</a:t>
            </a:r>
            <a:r>
              <a:rPr lang="ru-RU" dirty="0"/>
              <a:t> картах JPS заметно уменьшает количество расширений и часто ускоряет поиск</a:t>
            </a:r>
          </a:p>
          <a:p>
            <a:pPr marL="285750" indent="-285750">
              <a:buFontTx/>
              <a:buChar char="-"/>
            </a:pPr>
            <a:r>
              <a:rPr lang="ru-RU" dirty="0"/>
              <a:t>На взвешенных картах </a:t>
            </a:r>
            <a:r>
              <a:rPr lang="en-US" dirty="0"/>
              <a:t>JPSW </a:t>
            </a:r>
            <a:r>
              <a:rPr lang="ru-RU" dirty="0"/>
              <a:t>также заметно улучшает время и уменьшает количество расширений, но только при условии, что взвешенная карта имеет большие области типов местностей</a:t>
            </a:r>
            <a:endParaRPr lang="en-US" dirty="0"/>
          </a:p>
          <a:p>
            <a:r>
              <a:rPr lang="ru-RU" dirty="0"/>
              <a:t>Перспективы</a:t>
            </a:r>
            <a:r>
              <a:rPr lang="en-US" dirty="0"/>
              <a:t>:</a:t>
            </a:r>
          </a:p>
          <a:p>
            <a:pPr marL="285750" indent="-285750">
              <a:buFontTx/>
              <a:buChar char="-"/>
            </a:pPr>
            <a:r>
              <a:rPr lang="ru-RU" dirty="0"/>
              <a:t>Реализовать улучшения </a:t>
            </a:r>
            <a:r>
              <a:rPr lang="en-US" dirty="0"/>
              <a:t>JPSW: pruning-</a:t>
            </a:r>
            <a:r>
              <a:rPr lang="ru-RU" dirty="0"/>
              <a:t>усиления + </a:t>
            </a:r>
            <a:r>
              <a:rPr lang="en-US" dirty="0"/>
              <a:t>caching (empty/full)</a:t>
            </a:r>
          </a:p>
          <a:p>
            <a:pPr marL="285750" indent="-285750">
              <a:buFontTx/>
              <a:buChar char="-"/>
            </a:pPr>
            <a:r>
              <a:rPr lang="ru-RU" dirty="0"/>
              <a:t>Реализовать улучшения </a:t>
            </a:r>
            <a:r>
              <a:rPr lang="en-US" dirty="0"/>
              <a:t>JPS: JPS(B), JPS(+)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1026</TotalTime>
  <Words>1424</Words>
  <Application>Microsoft Office PowerPoint</Application>
  <PresentationFormat>Экран (16:9)</PresentationFormat>
  <Paragraphs>185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2" baseType="lpstr">
      <vt:lpstr>Arial</vt:lpstr>
      <vt:lpstr>Simple Light</vt:lpstr>
      <vt:lpstr> </vt:lpstr>
      <vt:lpstr>Где нужен быстрый поиск пути? </vt:lpstr>
      <vt:lpstr>Постановка задачи: поиск оптимального пути (неформально) </vt:lpstr>
      <vt:lpstr>Постановка задачи: модель карты </vt:lpstr>
      <vt:lpstr>Постановка задачи</vt:lpstr>
      <vt:lpstr>Базовый подход: A* и его ограничения</vt:lpstr>
      <vt:lpstr>Jump Point Search (JPS): Основная идея (Harabor &amp; Grastien 2011) </vt:lpstr>
      <vt:lpstr>Pruning в JPS</vt:lpstr>
      <vt:lpstr>Jumping в JPS</vt:lpstr>
      <vt:lpstr>JPSW объяснение</vt:lpstr>
      <vt:lpstr>План экспериментов</vt:lpstr>
      <vt:lpstr>Графики</vt:lpstr>
      <vt:lpstr>Графики</vt:lpstr>
      <vt:lpstr>Графики</vt:lpstr>
      <vt:lpstr>Графики</vt:lpstr>
      <vt:lpstr>Графики</vt:lpstr>
      <vt:lpstr>Графики</vt:lpstr>
      <vt:lpstr>Графики</vt:lpstr>
      <vt:lpstr>Графики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Vasilev Egor</dc:creator>
  <cp:lastModifiedBy>Vasilev Egor</cp:lastModifiedBy>
  <cp:revision>22</cp:revision>
  <dcterms:modified xsi:type="dcterms:W3CDTF">2025-12-23T13:23:13Z</dcterms:modified>
</cp:coreProperties>
</file>